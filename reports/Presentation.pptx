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Merriweather"/>
      <p:regular r:id="rId17"/>
      <p:bold r:id="rId18"/>
      <p:italic r:id="rId19"/>
      <p:boldItalic r:id="rId20"/>
    </p:embeddedFont>
    <p:embeddedFont>
      <p:font typeface="DM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Italic.fntdata"/><Relationship Id="rId11" Type="http://schemas.openxmlformats.org/officeDocument/2006/relationships/slide" Target="slides/slide6.xml"/><Relationship Id="rId22" Type="http://schemas.openxmlformats.org/officeDocument/2006/relationships/font" Target="fonts/DMSans-bold.fntdata"/><Relationship Id="rId10" Type="http://schemas.openxmlformats.org/officeDocument/2006/relationships/slide" Target="slides/slide5.xml"/><Relationship Id="rId21" Type="http://schemas.openxmlformats.org/officeDocument/2006/relationships/font" Target="fonts/DMSans-regular.fntdata"/><Relationship Id="rId13" Type="http://schemas.openxmlformats.org/officeDocument/2006/relationships/slide" Target="slides/slide8.xml"/><Relationship Id="rId24" Type="http://schemas.openxmlformats.org/officeDocument/2006/relationships/font" Target="fonts/DMSans-boldItalic.fntdata"/><Relationship Id="rId12" Type="http://schemas.openxmlformats.org/officeDocument/2006/relationships/slide" Target="slides/slide7.xml"/><Relationship Id="rId23" Type="http://schemas.openxmlformats.org/officeDocument/2006/relationships/font" Target="fonts/DM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erriweather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18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3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95300" y="2266950"/>
            <a:ext cx="11201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DFCF7"/>
                </a:solidFill>
                <a:latin typeface="Merriweather"/>
                <a:ea typeface="Merriweather"/>
                <a:cs typeface="Merriweather"/>
                <a:sym typeface="Merriweather"/>
              </a:rPr>
              <a:t>Advanced Mutual Fund Analytics &amp; Portfolio Risk Engine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3600450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5A880"/>
                </a:solidFill>
                <a:latin typeface="DM Sans"/>
                <a:ea typeface="DM Sans"/>
                <a:cs typeface="DM Sans"/>
                <a:sym typeface="DM Sans"/>
              </a:rPr>
              <a:t>An Enterprise Ingestion &amp; Non-Parametric Risk Management Framework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4267200"/>
            <a:ext cx="1066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Tejas 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7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95587"/>
            <a:ext cx="51435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95587"/>
            <a:ext cx="51435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62000" y="571500"/>
            <a:ext cx="112014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A1931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Statement &amp; Objectives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762000" y="11334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219200" y="3138487"/>
            <a:ext cx="45605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1931"/>
                </a:solidFill>
                <a:latin typeface="Merriweather"/>
                <a:ea typeface="Merriweather"/>
                <a:cs typeface="Merriweather"/>
                <a:sym typeface="Merriweather"/>
              </a:rPr>
              <a:t>The Analytical Gap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1104900" y="3138487"/>
            <a:ext cx="38100" cy="295275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104900" y="3576637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Standard return tracking modules overlook down-market tail risks, exposing portfolios to black-swan drops. In parallel, upstream schema modifications regularly break traditional, rigid ETL structures.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43700" y="3138487"/>
            <a:ext cx="45605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1931"/>
                </a:solidFill>
                <a:latin typeface="Merriweather"/>
                <a:ea typeface="Merriweather"/>
                <a:cs typeface="Merriweather"/>
                <a:sym typeface="Merriweather"/>
              </a:rPr>
              <a:t>Target Project Objectives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6629400" y="3138487"/>
            <a:ext cx="38100" cy="295275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629400" y="3576637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Develop an automated end-to-end data pipeline to extract records, compute 95% non-parametric VaR &amp; CVaR parameters, and integrate dynamic context-aware recommendation maps.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7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605087"/>
            <a:ext cx="336545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605087"/>
            <a:ext cx="336545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605087"/>
            <a:ext cx="336545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62000" y="571500"/>
            <a:ext cx="112014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A1931"/>
                </a:solidFill>
                <a:latin typeface="Merriweather"/>
                <a:ea typeface="Merriweather"/>
                <a:cs typeface="Merriweather"/>
                <a:sym typeface="Merriweather"/>
              </a:rPr>
              <a:t>Underlying Relational Data Layer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762000" y="11334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1057275" y="3490912"/>
            <a:ext cx="29136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A1931"/>
                </a:solidFill>
                <a:latin typeface="Merriweather"/>
                <a:ea typeface="Merriweather"/>
                <a:cs typeface="Merriweather"/>
                <a:sym typeface="Merriweather"/>
              </a:rPr>
              <a:t>dim_fund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057275" y="3871912"/>
            <a:ext cx="27749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Stores schema profiles, structural risk class associations, active asset groupings, and localized fund house profiles.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708475" y="3490912"/>
            <a:ext cx="29136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A1931"/>
                </a:solidFill>
                <a:latin typeface="Merriweather"/>
                <a:ea typeface="Merriweather"/>
                <a:cs typeface="Merriweather"/>
                <a:sym typeface="Merriweather"/>
              </a:rPr>
              <a:t>fact_nav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708475" y="3871912"/>
            <a:ext cx="27749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Maintains daily chronological historical logs tracking Net Asset Value shifts to generate performance deltas.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359675" y="3490912"/>
            <a:ext cx="29136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A1931"/>
                </a:solidFill>
                <a:latin typeface="Merriweather"/>
                <a:ea typeface="Merriweather"/>
                <a:cs typeface="Merriweather"/>
                <a:sym typeface="Merriweather"/>
              </a:rPr>
              <a:t>fact_transactions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359675" y="3871912"/>
            <a:ext cx="27749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Tracks granular user transactions, logging absolute unit sizes, categorical weights, and historical cash flows.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938462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08475" y="293846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938462"/>
            <a:ext cx="2286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7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52637"/>
            <a:ext cx="5143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762000" y="571500"/>
            <a:ext cx="112014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A1931"/>
                </a:solidFill>
                <a:latin typeface="Merriweather"/>
                <a:ea typeface="Merriweather"/>
                <a:cs typeface="Merriweather"/>
                <a:sym typeface="Merriweather"/>
              </a:rPr>
              <a:t>ETL Pipeline &amp; Architecture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762000" y="11334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762000" y="2967037"/>
            <a:ext cx="54006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A1931"/>
                </a:solidFill>
                <a:latin typeface="Merriweather"/>
                <a:ea typeface="Merriweather"/>
                <a:cs typeface="Merriweather"/>
                <a:sym typeface="Merriweather"/>
              </a:rPr>
              <a:t>Automated Ingestion Mechanics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62000" y="3424237"/>
            <a:ext cx="514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Our custom pipeline connects</a:t>
            </a: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d</a:t>
            </a: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irectly with raw database layers without needing brittle paths or static configurations. It cleans inconsistent null structures and parses datetime keys sequentially.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762000" y="4205287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5A880"/>
                </a:solidFill>
                <a:latin typeface="DM Sans"/>
                <a:ea typeface="DM Sans"/>
                <a:cs typeface="DM Sans"/>
                <a:sym typeface="DM Sans"/>
              </a:rPr>
              <a:t>Orchestration is consolidated inside run_pipeline.py for high performance.</a:t>
            </a:r>
            <a:endParaRPr/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062162"/>
            <a:ext cx="512445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96025" y="2052625"/>
            <a:ext cx="5286374" cy="36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7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95587"/>
            <a:ext cx="51435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95587"/>
            <a:ext cx="51435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762000" y="571500"/>
            <a:ext cx="112014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A1931"/>
                </a:solidFill>
                <a:latin typeface="Merriweather"/>
                <a:ea typeface="Merriweather"/>
                <a:cs typeface="Merriweather"/>
                <a:sym typeface="Merriweather"/>
              </a:rPr>
              <a:t>EDA Highlights: Cohort Analysis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762000" y="11334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1219200" y="3138487"/>
            <a:ext cx="45605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1931"/>
                </a:solidFill>
                <a:latin typeface="Merriweather"/>
                <a:ea typeface="Merriweather"/>
                <a:cs typeface="Merriweather"/>
                <a:sym typeface="Merriweather"/>
              </a:rPr>
              <a:t>Investor Retention Metrics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1104900" y="3138487"/>
            <a:ext cx="38100" cy="295275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1104900" y="3576637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Granular transaction analysis shows that individual engagement drops sharply 90 days after initial investments. This highlights a clear need for active behavioral retention campaigns.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743700" y="3138487"/>
            <a:ext cx="45605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1931"/>
                </a:solidFill>
                <a:latin typeface="Merriweather"/>
                <a:ea typeface="Merriweather"/>
                <a:cs typeface="Merriweather"/>
                <a:sym typeface="Merriweather"/>
              </a:rPr>
              <a:t>The SIP Performance Gap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6629400" y="3138487"/>
            <a:ext cx="38100" cy="295275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6629400" y="3576637"/>
            <a:ext cx="4457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Systematic Investment Plans (SIPs) drive a 4.2x higher lifetime customer retention threshold over highly volatile, one-time lump-sum accounts.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7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605087"/>
            <a:ext cx="336545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605087"/>
            <a:ext cx="336545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605087"/>
            <a:ext cx="336545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762000" y="571500"/>
            <a:ext cx="112014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A1931"/>
                </a:solidFill>
                <a:latin typeface="Merriweather"/>
                <a:ea typeface="Merriweather"/>
                <a:cs typeface="Merriweather"/>
                <a:sym typeface="Merriweather"/>
              </a:rPr>
              <a:t>EDA Highlights: Fund Distributions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762000" y="11334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1057275" y="3490912"/>
            <a:ext cx="29136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A1931"/>
                </a:solidFill>
                <a:latin typeface="Merriweather"/>
                <a:ea typeface="Merriweather"/>
                <a:cs typeface="Merriweather"/>
                <a:sym typeface="Merriweather"/>
              </a:rPr>
              <a:t>Risk Concentration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1057275" y="3871912"/>
            <a:ext cx="27749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Over 60% of listed mutual fund schemes belong to high-volatility parameters, demanding strict down-market tail protections.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4708475" y="3490912"/>
            <a:ext cx="29136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A1931"/>
                </a:solidFill>
                <a:latin typeface="Merriweather"/>
                <a:ea typeface="Merriweather"/>
                <a:cs typeface="Merriweather"/>
                <a:sym typeface="Merriweather"/>
              </a:rPr>
              <a:t>Inconsistent Fields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4708475" y="3871912"/>
            <a:ext cx="27749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Upstream records exhibited significant field structural variations. We solved this issue dynamically via regex patterns.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8359675" y="3490912"/>
            <a:ext cx="29136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A1931"/>
                </a:solidFill>
                <a:latin typeface="Merriweather"/>
                <a:ea typeface="Merriweather"/>
                <a:cs typeface="Merriweather"/>
                <a:sym typeface="Merriweather"/>
              </a:rPr>
              <a:t>Data Cleansing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8359675" y="3871912"/>
            <a:ext cx="27749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The engine handles irregular entries, ensuring seamless integration between files and downstream reports.</a:t>
            </a:r>
            <a:endParaRPr/>
          </a:p>
        </p:txBody>
      </p:sp>
      <p:pic>
        <p:nvPicPr>
          <p:cNvPr descr="image.png" id="166" name="Google Shape;16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93846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08475" y="2938462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938462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7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4191000"/>
            <a:ext cx="5143500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762000" y="571500"/>
            <a:ext cx="112014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A1931"/>
                </a:solidFill>
                <a:latin typeface="Merriweather"/>
                <a:ea typeface="Merriweather"/>
                <a:cs typeface="Merriweather"/>
                <a:sym typeface="Merriweather"/>
              </a:rPr>
              <a:t>Performance Metrics: 95% VaR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762000" y="11334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762000" y="3133725"/>
            <a:ext cx="5143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0A1931"/>
                </a:solidFill>
                <a:latin typeface="Merriweather"/>
                <a:ea typeface="Merriweather"/>
                <a:cs typeface="Merriweather"/>
                <a:sym typeface="Merriweather"/>
              </a:rPr>
              <a:t>-1.28%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762000" y="4276725"/>
            <a:ext cx="5143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5A880"/>
                </a:solidFill>
                <a:latin typeface="DM Sans"/>
                <a:ea typeface="DM Sans"/>
                <a:cs typeface="DM Sans"/>
                <a:sym typeface="DM Sans"/>
              </a:rPr>
              <a:t>Daily 95% Value-at-Risk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286500" y="3048000"/>
            <a:ext cx="54006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A1931"/>
                </a:solidFill>
                <a:latin typeface="Merriweather"/>
                <a:ea typeface="Merriweather"/>
                <a:cs typeface="Merriweather"/>
                <a:sym typeface="Merriweather"/>
              </a:rPr>
              <a:t>Quantifying Down-Market Protection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286500" y="3362325"/>
            <a:ext cx="514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Using non-parametric historical simulation over daily performance windows, our Risk Engine isolates absolute baseline drawdowns at a 95% confidence threshold: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7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438275"/>
            <a:ext cx="1066800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762000" y="571500"/>
            <a:ext cx="112014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A1931"/>
                </a:solidFill>
                <a:latin typeface="Merriweather"/>
                <a:ea typeface="Merriweather"/>
                <a:cs typeface="Merriweather"/>
                <a:sym typeface="Merriweather"/>
              </a:rPr>
              <a:t>Performance Metrics: Tail Risk</a:t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762000" y="11334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2457450" y="5469731"/>
            <a:ext cx="72771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Extreme tail-risk losses deep in the 5th percentile drop further to an average 95% CVaR threshold of -1.67%.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7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52637"/>
            <a:ext cx="5143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762000" y="571500"/>
            <a:ext cx="112014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A1931"/>
                </a:solidFill>
                <a:latin typeface="Merriweather"/>
                <a:ea typeface="Merriweather"/>
                <a:cs typeface="Merriweather"/>
                <a:sym typeface="Merriweather"/>
              </a:rPr>
              <a:t>Dashboard View: AUM Tracking</a:t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762000" y="11334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762000" y="2967037"/>
            <a:ext cx="54006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A1931"/>
                </a:solidFill>
                <a:latin typeface="Merriweather"/>
                <a:ea typeface="Merriweather"/>
                <a:cs typeface="Merriweather"/>
                <a:sym typeface="Merriweather"/>
              </a:rPr>
              <a:t>Global Portfolio Performance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762000" y="3424237"/>
            <a:ext cx="514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The Asset Under Management (AUM) Tracking Module gives fund executives dynamic, interactive visibility over total asset bases across global territories.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762000" y="4205287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5A880"/>
                </a:solidFill>
                <a:latin typeface="DM Sans"/>
                <a:ea typeface="DM Sans"/>
                <a:cs typeface="DM Sans"/>
                <a:sym typeface="DM Sans"/>
              </a:rPr>
              <a:t>Includes filters to slice performance histories by region, fund class, and sector.</a:t>
            </a:r>
            <a:endParaRPr/>
          </a:p>
        </p:txBody>
      </p:sp>
      <p:pic>
        <p:nvPicPr>
          <p:cNvPr descr="image.png" id="201" name="Google Shape;20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062162"/>
            <a:ext cx="512445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28775" y="1692200"/>
            <a:ext cx="5990200" cy="436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7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571500" y="571500"/>
            <a:ext cx="555069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A1931"/>
                </a:solidFill>
                <a:latin typeface="Merriweather"/>
                <a:ea typeface="Merriweather"/>
                <a:cs typeface="Merriweather"/>
                <a:sym typeface="Merriweather"/>
              </a:rPr>
              <a:t>Dashboard View: Velocity</a:t>
            </a: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571500" y="1133475"/>
            <a:ext cx="528637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0" name="Google Shape;21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571500" y="1343025"/>
            <a:ext cx="555069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1931"/>
                </a:solidFill>
                <a:latin typeface="Merriweather"/>
                <a:ea typeface="Merriweather"/>
                <a:cs typeface="Merriweather"/>
                <a:sym typeface="Merriweather"/>
              </a:rPr>
              <a:t>Transaction Performance KPIs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571500" y="1781175"/>
            <a:ext cx="52863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Provides critical visibility over transactional trends, mapping transaction sizes and comparing recurring systematic payments against lump-sum inflows.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571500" y="2664916"/>
            <a:ext cx="52863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Operational teams can use these live transaction feeds to quickly identify redemption flags and manage portfolio balance levels proactively.</a:t>
            </a:r>
            <a:endParaRPr/>
          </a:p>
        </p:txBody>
      </p:sp>
      <p:pic>
        <p:nvPicPr>
          <p:cNvPr id="214" name="Google Shape;21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2350" y="27375"/>
            <a:ext cx="620957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3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1325" y="0"/>
            <a:ext cx="12493325" cy="696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495300" y="2214556"/>
            <a:ext cx="11201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DFCF7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You!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762000" y="3319462"/>
            <a:ext cx="1066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